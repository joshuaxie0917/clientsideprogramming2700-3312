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4C7A4C-B506-4F7D-B25C-C9388A8FA1EE}" v="38" dt="2026-04-07T14:16:10.9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54" d="100"/>
          <a:sy n="54" d="100"/>
        </p:scale>
        <p:origin x="52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eaoyi Xie" userId="b10697924f38ca54" providerId="LiveId" clId="{303D7C3B-3259-4122-8B00-247FF12F0653}"/>
    <pc:docChg chg="custSel modSld">
      <pc:chgData name="Xieaoyi Xie" userId="b10697924f38ca54" providerId="LiveId" clId="{303D7C3B-3259-4122-8B00-247FF12F0653}" dt="2026-04-07T14:16:26.526" v="42" actId="27636"/>
      <pc:docMkLst>
        <pc:docMk/>
      </pc:docMkLst>
      <pc:sldChg chg="modSp mod">
        <pc:chgData name="Xieaoyi Xie" userId="b10697924f38ca54" providerId="LiveId" clId="{303D7C3B-3259-4122-8B00-247FF12F0653}" dt="2026-04-07T14:16:26.526" v="42" actId="27636"/>
        <pc:sldMkLst>
          <pc:docMk/>
          <pc:sldMk cId="2863907957" sldId="256"/>
        </pc:sldMkLst>
        <pc:spChg chg="mod">
          <ac:chgData name="Xieaoyi Xie" userId="b10697924f38ca54" providerId="LiveId" clId="{303D7C3B-3259-4122-8B00-247FF12F0653}" dt="2026-04-07T14:16:26.526" v="42" actId="27636"/>
          <ac:spMkLst>
            <pc:docMk/>
            <pc:sldMk cId="2863907957" sldId="256"/>
            <ac:spMk id="3" creationId="{1CEF1D44-F49D-9173-6F9D-9B8950C6406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C647C-996D-4560-BC36-23113826D284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90685-F288-487C-9237-A518CBA2AC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0342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90685-F288-487C-9237-A518CBA2AC7C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072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36B4C-A392-2928-C2F6-D89934686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722D9-6D31-68AE-7B28-C030D1ADC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9A836-470B-922E-2F0B-950A8BD3E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3820-3B8B-4BAB-A53C-E5F37D808D8A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C933A-6D88-0D8F-21DA-77F0EF7ED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F81CF-19B9-E887-600F-CA55465D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1577-37C9-41A1-B30F-8740B9A4E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5694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B442F-F5A5-36BA-B466-736B3EB2B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E3631-BC3F-8038-E1BF-B9A6A386E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34E6E-9CB6-D3A5-5A66-65400EEB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3820-3B8B-4BAB-A53C-E5F37D808D8A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E3974-7E1F-3159-3C7E-669FDE02A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A171E-B311-A5DC-73DD-CBC9E751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1577-37C9-41A1-B30F-8740B9A4E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618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F52A4-2387-A53A-CF4F-1AAC97BD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5DBE0-0117-16BD-305C-DE7DD141A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0E0AC-B1E5-81A4-CE57-8F7E277D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3820-3B8B-4BAB-A53C-E5F37D808D8A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02632-3007-6180-FFEC-43F1FD65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9B606-AD75-BFFB-A6D5-E05E194C0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1577-37C9-41A1-B30F-8740B9A4E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8330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A77A7-C5D6-F2CB-6783-4071E19C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1454F-B745-B106-BB2E-11731E600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8BEBB-1923-32F3-9D67-20CA47E77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E21ED-66D6-3620-8275-C72F1521A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3820-3B8B-4BAB-A53C-E5F37D808D8A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A91EC-24A0-9D50-0CB2-2E6A10750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DD3DF-99E8-9B89-3E79-D21A6D0F2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1577-37C9-41A1-B30F-8740B9A4E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594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4BBE7-2CE7-A54B-7505-53941A346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C0866-F2C4-80C9-52BA-07E0FE657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6CAA4-5A23-ADBD-D3E8-ACC53FE2F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DA2D1-2DCA-2DD7-7613-215F8062F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09663-37F4-2198-2F3A-CAE4182F46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9DDAD5-C796-FA42-AD61-9D11177BA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3820-3B8B-4BAB-A53C-E5F37D808D8A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BD61B1-1CED-7F41-96E5-1BBA9AA61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F2367D-E941-E2AA-EE99-17EC9811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1577-37C9-41A1-B30F-8740B9A4E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0208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524C8-75C4-F8D5-50B7-5B9A87EA5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651C8B-EF93-22FC-7F2E-F572987F0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3820-3B8B-4BAB-A53C-E5F37D808D8A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A0788-5894-3E55-F338-F6FCC9A30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EA378-4915-9F5C-2259-FC11AAF3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1577-37C9-41A1-B30F-8740B9A4E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265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379249-FA60-90C6-CE51-D9B9D42CD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3820-3B8B-4BAB-A53C-E5F37D808D8A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93D7F-36C6-A27B-D297-0A52EB8A6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59742-7C30-1158-2DEA-7D6F1D6F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1577-37C9-41A1-B30F-8740B9A4E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593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DFFD7-00C8-0E7D-3AEA-D0591BBFE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B11F1-F245-13B1-AD92-3D09675F6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A201E-DD18-70E0-BBFC-7C85F6F12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B92DD-7CA8-D161-2E62-E9DC41586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3820-3B8B-4BAB-A53C-E5F37D808D8A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09CB8-BE58-0B5F-4B3F-B06E3238D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E6C98-AA53-7A39-61B4-9830FD285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1577-37C9-41A1-B30F-8740B9A4E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121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931A7-F498-A3C6-1114-9CFB7C67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ECAA3-B396-8ED1-6ACD-920EFF5C80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8B9D0-8386-A7A1-3B76-BD39A9C4F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16639-9CB7-9BA8-F601-A56951947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3820-3B8B-4BAB-A53C-E5F37D808D8A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65C04-16AA-A554-E761-DF59690EB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70ECB-CB26-A3C3-26BB-2847E812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1577-37C9-41A1-B30F-8740B9A4E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8741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12E1-5534-0C47-01BA-7B92082AD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958B-74E9-6723-DD56-8282CE5F7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46F04-E562-0745-BB86-5315FA657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3820-3B8B-4BAB-A53C-E5F37D808D8A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77B34-F9E7-A846-97D6-0A2C9F928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C0F1B-4EEF-3745-C52A-DCE7F47D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1577-37C9-41A1-B30F-8740B9A4E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1354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DD47D4-1ACE-9B09-28DC-5C045F705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CC2E2-A862-C579-B008-94B32F48C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54593-98DD-E0A9-78F4-EFF1674F3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3820-3B8B-4BAB-A53C-E5F37D808D8A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AF767-93ED-208E-5516-0D33D1D77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29AE7-70CB-1262-5DC5-BCA32216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1577-37C9-41A1-B30F-8740B9A4E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8060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054975-B67B-E64A-58F7-03DF77DA5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B7FC6-20F8-B754-9DE8-B2C375137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65DA3-B288-8B0A-17F1-924E1674E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03820-3B8B-4BAB-A53C-E5F37D808D8A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FAFAC-DDDD-8CB4-7D13-240A8E8F1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4F5C3-819E-A848-10B4-513669F35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51577-37C9-41A1-B30F-8740B9A4E1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863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B683-3ECE-C849-B5DE-A6996B8BCD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Website Evaluation &amp; Redesign Proposal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F1D44-F49D-9173-6F9D-9B8950C6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4821" y="3146961"/>
            <a:ext cx="9603179" cy="2522661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eCampus IT Programming Website</a:t>
            </a:r>
          </a:p>
          <a:p>
            <a:r>
              <a:rPr lang="en-CA" altLang="zh-CN" dirty="0"/>
              <a:t>Team Members:</a:t>
            </a:r>
            <a:endParaRPr lang="en-US" altLang="zh-CN" dirty="0"/>
          </a:p>
          <a:p>
            <a:r>
              <a:rPr lang="en-US" altLang="zh-CN" b="1" dirty="0"/>
              <a:t>Joshua Xie</a:t>
            </a:r>
          </a:p>
          <a:p>
            <a:r>
              <a:rPr lang="en-US" altLang="zh-CN" b="1" dirty="0"/>
              <a:t>Tonglin Yang</a:t>
            </a:r>
          </a:p>
          <a:p>
            <a:endParaRPr lang="en-US" altLang="zh-CN" b="1" dirty="0"/>
          </a:p>
          <a:p>
            <a:r>
              <a:rPr lang="en-US" altLang="zh-CN" dirty="0"/>
              <a:t>Mar 27</a:t>
            </a:r>
            <a:r>
              <a:rPr lang="en-CA" altLang="zh-CN" dirty="0"/>
              <a:t> – </a:t>
            </a:r>
            <a:r>
              <a:rPr lang="en-US" altLang="zh-CN" dirty="0"/>
              <a:t>Apr 5, 2026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63907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BC1F9-EE0E-4546-791A-974A719FD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49EC6-75B5-3254-0131-D311F2B12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799"/>
            <a:ext cx="10515600" cy="22308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This project analyzes the eCampus IT Programming website  </a:t>
            </a:r>
          </a:p>
          <a:p>
            <a:pPr marL="0" indent="0">
              <a:buNone/>
            </a:pPr>
            <a:r>
              <a:rPr lang="en-US" dirty="0"/>
              <a:t>• The evaluation focuses on user experience, design, and usability  </a:t>
            </a:r>
          </a:p>
          <a:p>
            <a:pPr marL="0" indent="0">
              <a:buNone/>
            </a:pPr>
            <a:r>
              <a:rPr lang="en-US" dirty="0"/>
              <a:t>• Key problems are identified and analyzed  </a:t>
            </a:r>
          </a:p>
          <a:p>
            <a:pPr marL="0" indent="0">
              <a:buNone/>
            </a:pPr>
            <a:r>
              <a:rPr lang="en-US" dirty="0"/>
              <a:t>• Solutions are proposed to improve the overall experience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13688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3987B-C834-7547-93F4-77146D28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353301" cy="919174"/>
          </a:xfrm>
        </p:spPr>
        <p:txBody>
          <a:bodyPr/>
          <a:lstStyle/>
          <a:p>
            <a:r>
              <a:rPr lang="en-CA" dirty="0"/>
              <a:t>Website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A5691-BF6A-6E5F-4B87-3E106D444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36" y="1141797"/>
            <a:ext cx="9898701" cy="151948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• The website is an online learning platform for IT students  </a:t>
            </a:r>
          </a:p>
          <a:p>
            <a:pPr marL="0" indent="0">
              <a:buNone/>
            </a:pPr>
            <a:r>
              <a:rPr lang="en-US" dirty="0"/>
              <a:t>• It provides lessons, resources, and program information  </a:t>
            </a:r>
          </a:p>
          <a:p>
            <a:pPr marL="0" indent="0">
              <a:buNone/>
            </a:pPr>
            <a:r>
              <a:rPr lang="en-US" dirty="0"/>
              <a:t>• Users can access videos, PDFs, and course details  </a:t>
            </a:r>
          </a:p>
          <a:p>
            <a:pPr marL="0" indent="0">
              <a:buNone/>
            </a:pPr>
            <a:r>
              <a:rPr lang="en-US" dirty="0"/>
              <a:t>• The layout includes a sidebar and main content area 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F065FF-F65E-3300-7D78-A5648E424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34" y="2661281"/>
            <a:ext cx="5413247" cy="3382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089363-8878-89F3-57DD-92FCEBE64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320" y="2661281"/>
            <a:ext cx="5413246" cy="33824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80B4C8-BEE4-CF80-0F9B-8F3FD4D6FAC8}"/>
              </a:ext>
            </a:extLst>
          </p:cNvPr>
          <p:cNvSpPr txBox="1"/>
          <p:nvPr/>
        </p:nvSpPr>
        <p:spPr>
          <a:xfrm>
            <a:off x="512434" y="6211669"/>
            <a:ext cx="11054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However, the design focuses more on structure than user experience.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65290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46C48-DD7E-4C94-3A55-60BB1B24B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Overall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BB01D-515C-BA19-BAA3-94774FED4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64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• The website has a clear structure and simple design</a:t>
            </a:r>
            <a:br>
              <a:rPr lang="en-US" dirty="0"/>
            </a:br>
            <a:r>
              <a:rPr lang="en-US" dirty="0"/>
              <a:t>• It provides useful learning content for students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However, several usability issues exist: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Navigation is not intuitive for new users</a:t>
            </a:r>
            <a:br>
              <a:rPr lang="en-US" dirty="0"/>
            </a:br>
            <a:r>
              <a:rPr lang="en-US" dirty="0"/>
              <a:t>• Too much scrolling is required to find information</a:t>
            </a:r>
            <a:br>
              <a:rPr lang="en-US" dirty="0"/>
            </a:br>
            <a:r>
              <a:rPr lang="en-US" dirty="0"/>
              <a:t>• Important content is sometimes hidden</a:t>
            </a:r>
            <a:br>
              <a:rPr lang="en-US" dirty="0"/>
            </a:br>
            <a:r>
              <a:rPr lang="en-US" dirty="0"/>
              <a:t>• Visual design lacks hierarchy and engagement</a:t>
            </a:r>
            <a:br>
              <a:rPr lang="en-US" dirty="0"/>
            </a:br>
            <a:r>
              <a:rPr lang="en-US" dirty="0"/>
              <a:t>• Interactive features are inconsistent</a:t>
            </a:r>
            <a:br>
              <a:rPr lang="en-US" dirty="0"/>
            </a:br>
            <a:r>
              <a:rPr lang="en-US" dirty="0"/>
              <a:t>• Accessibility is limited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Overall, the website works, but it is not efficient or user-friendly.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534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21BCDF-D66D-6E63-066A-35C3021CCC41}"/>
              </a:ext>
            </a:extLst>
          </p:cNvPr>
          <p:cNvSpPr txBox="1"/>
          <p:nvPr/>
        </p:nvSpPr>
        <p:spPr>
          <a:xfrm>
            <a:off x="377334" y="2313993"/>
            <a:ext cx="72876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• The website uses a sidebar navigation menu  </a:t>
            </a:r>
          </a:p>
          <a:p>
            <a:r>
              <a:rPr lang="en-US" sz="2400" dirty="0"/>
              <a:t>• Users can switch between lessons easily  </a:t>
            </a:r>
          </a:p>
          <a:p>
            <a:r>
              <a:rPr lang="en-US" sz="2400" dirty="0"/>
              <a:t>• Each lesson follows a similar layout </a:t>
            </a:r>
            <a:endParaRPr lang="en-CA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0F3D55-9DE3-839B-A95C-BB27027A7195}"/>
              </a:ext>
            </a:extLst>
          </p:cNvPr>
          <p:cNvSpPr txBox="1"/>
          <p:nvPr/>
        </p:nvSpPr>
        <p:spPr>
          <a:xfrm>
            <a:off x="593748" y="551764"/>
            <a:ext cx="60970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/>
              <a:t>Navigation</a:t>
            </a:r>
            <a:r>
              <a:rPr lang="en-CA" sz="3200" b="1" dirty="0"/>
              <a:t> </a:t>
            </a:r>
            <a:r>
              <a:rPr lang="en-CA" sz="4400" b="1" dirty="0"/>
              <a:t>Structure</a:t>
            </a:r>
          </a:p>
        </p:txBody>
      </p:sp>
      <p:pic>
        <p:nvPicPr>
          <p:cNvPr id="7" name="Picture 6" descr="The image is a web page excerpt for the eCampus IT Programming Diploma, displaying various sections like program completion status, program information, work experience, portfolio, alternate pathways, and recognition of prior learning.&#10;&#10;AI-generated content may be incorrect.">
            <a:extLst>
              <a:ext uri="{FF2B5EF4-FFF2-40B4-BE49-F238E27FC236}">
                <a16:creationId xmlns:a16="http://schemas.microsoft.com/office/drawing/2014/main" id="{8B37D235-5338-918F-B333-7ECE71091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389" y="172108"/>
            <a:ext cx="2964305" cy="61667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97B856-4500-5500-F398-A3ADF057A738}"/>
              </a:ext>
            </a:extLst>
          </p:cNvPr>
          <p:cNvSpPr txBox="1"/>
          <p:nvPr/>
        </p:nvSpPr>
        <p:spPr>
          <a:xfrm>
            <a:off x="593552" y="4628806"/>
            <a:ext cx="60972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This navigation is not intuitive for first-time users.</a:t>
            </a:r>
            <a:endParaRPr lang="en-CA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806CDB-8FFE-80D8-73BD-7E777E2F76B1}"/>
              </a:ext>
            </a:extLst>
          </p:cNvPr>
          <p:cNvSpPr txBox="1"/>
          <p:nvPr/>
        </p:nvSpPr>
        <p:spPr>
          <a:xfrm>
            <a:off x="593552" y="5154448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This may reduce usability for first-time users.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854749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3BE782-A897-5982-E783-74F2307CBB7F}"/>
              </a:ext>
            </a:extLst>
          </p:cNvPr>
          <p:cNvSpPr txBox="1"/>
          <p:nvPr/>
        </p:nvSpPr>
        <p:spPr>
          <a:xfrm>
            <a:off x="3780089" y="0"/>
            <a:ext cx="37818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/>
              <a:t>Layout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779A26-7C1F-6F34-2BA8-8F49BFC5EB42}"/>
              </a:ext>
            </a:extLst>
          </p:cNvPr>
          <p:cNvSpPr txBox="1"/>
          <p:nvPr/>
        </p:nvSpPr>
        <p:spPr>
          <a:xfrm>
            <a:off x="1841357" y="602675"/>
            <a:ext cx="78311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• The layout is divided into navigation and content  </a:t>
            </a:r>
          </a:p>
          <a:p>
            <a:r>
              <a:rPr lang="en-US" sz="2400" dirty="0"/>
              <a:t>• Content is displayed in a vertical format  </a:t>
            </a:r>
          </a:p>
          <a:p>
            <a:r>
              <a:rPr lang="en-US" sz="2400" dirty="0"/>
              <a:t>• Large images are used at the top of each lesson  </a:t>
            </a:r>
          </a:p>
          <a:p>
            <a:r>
              <a:rPr lang="en-US" sz="2400" dirty="0"/>
              <a:t>• This layout is simple, but requires excessive scrolling </a:t>
            </a:r>
            <a:endParaRPr lang="en-CA" sz="2400" dirty="0"/>
          </a:p>
        </p:txBody>
      </p:sp>
      <p:pic>
        <p:nvPicPr>
          <p:cNvPr id="9" name="Picture 8" descr="A student is seated at a desk, typing on a computer, surrounded by course information and program options on a screen.&#10;&#10;AI-generated content may be incorrect.">
            <a:extLst>
              <a:ext uri="{FF2B5EF4-FFF2-40B4-BE49-F238E27FC236}">
                <a16:creationId xmlns:a16="http://schemas.microsoft.com/office/drawing/2014/main" id="{C51033F0-4939-3012-7308-8BE4C785A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57" y="2172335"/>
            <a:ext cx="7357876" cy="42329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1C1CFF-6F9E-9F4E-05A4-3109C1849158}"/>
              </a:ext>
            </a:extLst>
          </p:cNvPr>
          <p:cNvSpPr txBox="1"/>
          <p:nvPr/>
        </p:nvSpPr>
        <p:spPr>
          <a:xfrm>
            <a:off x="1841357" y="6488668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/>
              <a:t>This increases user effort and reduces efficiency.</a:t>
            </a:r>
          </a:p>
        </p:txBody>
      </p:sp>
    </p:spTree>
    <p:extLst>
      <p:ext uri="{BB962C8B-B14F-4D97-AF65-F5344CB8AC3E}">
        <p14:creationId xmlns:p14="http://schemas.microsoft.com/office/powerpoint/2010/main" val="3069355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6BF8D6-E84A-7D46-0A9E-0EE0BD162219}"/>
              </a:ext>
            </a:extLst>
          </p:cNvPr>
          <p:cNvSpPr txBox="1"/>
          <p:nvPr/>
        </p:nvSpPr>
        <p:spPr>
          <a:xfrm>
            <a:off x="458202" y="159002"/>
            <a:ext cx="57845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/>
              <a:t>Content Organization</a:t>
            </a:r>
          </a:p>
        </p:txBody>
      </p:sp>
      <p:pic>
        <p:nvPicPr>
          <p:cNvPr id="5" name="Picture 4" descr="The image is a webpage interface from a course platform, showing a list of options for a Programming diploma, including course information, work experience requirements, and preparatory resources.&#10;&#10;AI-generated content may be incorrect.">
            <a:extLst>
              <a:ext uri="{FF2B5EF4-FFF2-40B4-BE49-F238E27FC236}">
                <a16:creationId xmlns:a16="http://schemas.microsoft.com/office/drawing/2014/main" id="{4052A608-9242-592A-008B-6ADDA224A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02" y="2306504"/>
            <a:ext cx="6977911" cy="40002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57B02D-B5C4-A7FE-55FB-3585BF9A6BA3}"/>
              </a:ext>
            </a:extLst>
          </p:cNvPr>
          <p:cNvSpPr txBox="1"/>
          <p:nvPr/>
        </p:nvSpPr>
        <p:spPr>
          <a:xfrm>
            <a:off x="311449" y="779803"/>
            <a:ext cx="102379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• The website uses expandable sections (+) to show additional content  </a:t>
            </a:r>
          </a:p>
          <a:p>
            <a:r>
              <a:rPr lang="en-CA" sz="2400" dirty="0"/>
              <a:t>• This helps reduce clutter and keeps the page visually clean  </a:t>
            </a:r>
          </a:p>
          <a:p>
            <a:r>
              <a:rPr lang="en-CA" sz="2400" dirty="0"/>
              <a:t>• Users must click to access detailed information  </a:t>
            </a:r>
          </a:p>
          <a:p>
            <a:r>
              <a:rPr lang="en-CA" sz="2400" dirty="0"/>
              <a:t>• This increases interaction effort and slows down navigation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79F3D1-B857-68EA-5F89-FC67F72EEDEE}"/>
              </a:ext>
            </a:extLst>
          </p:cNvPr>
          <p:cNvSpPr txBox="1"/>
          <p:nvPr/>
        </p:nvSpPr>
        <p:spPr>
          <a:xfrm>
            <a:off x="458202" y="6437062"/>
            <a:ext cx="6752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/>
              <a:t>This interaction pattern may reduce efficiency for users.</a:t>
            </a:r>
          </a:p>
        </p:txBody>
      </p:sp>
    </p:spTree>
    <p:extLst>
      <p:ext uri="{BB962C8B-B14F-4D97-AF65-F5344CB8AC3E}">
        <p14:creationId xmlns:p14="http://schemas.microsoft.com/office/powerpoint/2010/main" val="357191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C3AA3B-FC6B-9996-F992-09ABE8B2087F}"/>
              </a:ext>
            </a:extLst>
          </p:cNvPr>
          <p:cNvSpPr txBox="1"/>
          <p:nvPr/>
        </p:nvSpPr>
        <p:spPr>
          <a:xfrm>
            <a:off x="3906654" y="906170"/>
            <a:ext cx="39608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/>
              <a:t>Visual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D207A4-600E-48FD-BDC2-9E26471CF256}"/>
              </a:ext>
            </a:extLst>
          </p:cNvPr>
          <p:cNvSpPr txBox="1"/>
          <p:nvPr/>
        </p:nvSpPr>
        <p:spPr>
          <a:xfrm>
            <a:off x="3507371" y="2446119"/>
            <a:ext cx="47594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design is clean and consistent</a:t>
            </a:r>
          </a:p>
          <a:p>
            <a:r>
              <a:rPr lang="en-US" sz="2400" dirty="0"/>
              <a:t>However, it lacks visual variety</a:t>
            </a:r>
          </a:p>
          <a:p>
            <a:r>
              <a:rPr lang="en-US" sz="2400" dirty="0"/>
              <a:t>There is no strong visual hierarchy</a:t>
            </a:r>
            <a:endParaRPr lang="en-CA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56FF46-5ED4-FD84-BD4A-28E45708CAE8}"/>
              </a:ext>
            </a:extLst>
          </p:cNvPr>
          <p:cNvSpPr txBox="1"/>
          <p:nvPr/>
        </p:nvSpPr>
        <p:spPr>
          <a:xfrm>
            <a:off x="2838576" y="4219173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/>
              <a:t>The visual design lacks variety and may feel repetitive.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5732E-0783-E2D7-866F-F71A1F764446}"/>
              </a:ext>
            </a:extLst>
          </p:cNvPr>
          <p:cNvSpPr txBox="1"/>
          <p:nvPr/>
        </p:nvSpPr>
        <p:spPr>
          <a:xfrm>
            <a:off x="3507371" y="5075877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It does not create a strong visual hierarchy.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29906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99753B-D998-7F23-79E7-F9E44B4F65C4}"/>
              </a:ext>
            </a:extLst>
          </p:cNvPr>
          <p:cNvSpPr txBox="1"/>
          <p:nvPr/>
        </p:nvSpPr>
        <p:spPr>
          <a:xfrm>
            <a:off x="231668" y="152864"/>
            <a:ext cx="85686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/>
              <a:t>User Experience (UX) / Usability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7F5F2-8CD2-6A95-3940-11E0FD835CBD}"/>
              </a:ext>
            </a:extLst>
          </p:cNvPr>
          <p:cNvSpPr txBox="1"/>
          <p:nvPr/>
        </p:nvSpPr>
        <p:spPr>
          <a:xfrm>
            <a:off x="54701" y="1098972"/>
            <a:ext cx="499168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• The website is easy to use and simple to navigate  </a:t>
            </a:r>
          </a:p>
          <a:p>
            <a:r>
              <a:rPr lang="en-US" sz="2400" dirty="0"/>
              <a:t>• Users can move between lessons using the sidebar  </a:t>
            </a:r>
          </a:p>
          <a:p>
            <a:r>
              <a:rPr lang="en-US" sz="2400" dirty="0"/>
              <a:t>• The progress bar helps users track their learning progress  </a:t>
            </a:r>
          </a:p>
          <a:p>
            <a:endParaRPr lang="en-US" sz="2400" dirty="0"/>
          </a:p>
          <a:p>
            <a:r>
              <a:rPr lang="en-US" sz="2400" dirty="0"/>
              <a:t>• However, the website requires a lot of scrolling  </a:t>
            </a:r>
          </a:p>
          <a:p>
            <a:r>
              <a:rPr lang="en-US" sz="2400" dirty="0"/>
              <a:t>• Some features are not obvious for new users  </a:t>
            </a:r>
          </a:p>
          <a:p>
            <a:r>
              <a:rPr lang="en-US" sz="2400" dirty="0"/>
              <a:t>• The interaction is limited and not very engaging </a:t>
            </a:r>
            <a:endParaRPr lang="en-CA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E2CE6-8C73-60A3-6241-66B0D37EFD8B}"/>
              </a:ext>
            </a:extLst>
          </p:cNvPr>
          <p:cNvSpPr txBox="1"/>
          <p:nvPr/>
        </p:nvSpPr>
        <p:spPr>
          <a:xfrm>
            <a:off x="143986" y="6169286"/>
            <a:ext cx="8040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/>
              <a:t>The progress bar provides helpful feedback but is not very noticeable.</a:t>
            </a:r>
          </a:p>
        </p:txBody>
      </p:sp>
      <p:pic>
        <p:nvPicPr>
          <p:cNvPr id="9" name="Picture 8" descr="The image displays an interface with tabs for different sections such as Chat, Programming, Diploma, and Checklists, specifically for portfolio management, including options to present one's portfolio via LinkedIn or a personal website.&#10;&#10;AI-generated content may be incorrect.">
            <a:extLst>
              <a:ext uri="{FF2B5EF4-FFF2-40B4-BE49-F238E27FC236}">
                <a16:creationId xmlns:a16="http://schemas.microsoft.com/office/drawing/2014/main" id="{C31E78C4-927F-4F69-E918-2AD05D66B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386" y="1253112"/>
            <a:ext cx="7000177" cy="400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21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84BB45-97C9-377E-5EB0-3C48CDC15B0D}"/>
              </a:ext>
            </a:extLst>
          </p:cNvPr>
          <p:cNvSpPr txBox="1"/>
          <p:nvPr/>
        </p:nvSpPr>
        <p:spPr>
          <a:xfrm>
            <a:off x="207120" y="152864"/>
            <a:ext cx="55764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/>
              <a:t>Interactive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E0F082-E5AD-3DB2-C1D0-AD64F313CD3D}"/>
              </a:ext>
            </a:extLst>
          </p:cNvPr>
          <p:cNvSpPr txBox="1"/>
          <p:nvPr/>
        </p:nvSpPr>
        <p:spPr>
          <a:xfrm>
            <a:off x="207120" y="1113008"/>
            <a:ext cx="596047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• The website includes interactive features such as checkboxes and expandable sections  </a:t>
            </a:r>
          </a:p>
          <a:p>
            <a:r>
              <a:rPr lang="en-US" sz="2400" dirty="0"/>
              <a:t>• These features allow users to interact with the content  </a:t>
            </a:r>
          </a:p>
          <a:p>
            <a:r>
              <a:rPr lang="en-US" sz="2400" dirty="0"/>
              <a:t>• Different types of content (videos, PDFs, links) are provided  </a:t>
            </a:r>
          </a:p>
          <a:p>
            <a:r>
              <a:rPr lang="en-US" sz="2400" dirty="0"/>
              <a:t>• However, interaction is inconsistent across lessons  </a:t>
            </a:r>
          </a:p>
          <a:p>
            <a:r>
              <a:rPr lang="en-US" sz="2400" dirty="0"/>
              <a:t>• Some features are not clearly explained  </a:t>
            </a:r>
          </a:p>
          <a:p>
            <a:r>
              <a:rPr lang="en-US" sz="2400" dirty="0"/>
              <a:t>• Users may not understand how to use certain functions  </a:t>
            </a:r>
          </a:p>
          <a:p>
            <a:r>
              <a:rPr lang="en-US" sz="2400" dirty="0"/>
              <a:t>This may reduce usability and cause confusion.</a:t>
            </a:r>
            <a:endParaRPr lang="en-CA" sz="2400" dirty="0"/>
          </a:p>
        </p:txBody>
      </p:sp>
      <p:pic>
        <p:nvPicPr>
          <p:cNvPr id="9" name="Picture 8" descr="The image is a webpage interface for the Articulate eCampus, detailing a student's progress in a programming diploma program, including course registration, tracking, and program completion requirements.&#10;&#10;AI-generated content may be incorrect.">
            <a:extLst>
              <a:ext uri="{FF2B5EF4-FFF2-40B4-BE49-F238E27FC236}">
                <a16:creationId xmlns:a16="http://schemas.microsoft.com/office/drawing/2014/main" id="{F6F243BE-605F-3726-42C8-6C7320046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473" y="537584"/>
            <a:ext cx="4736161" cy="2719079"/>
          </a:xfrm>
          <a:prstGeom prst="rect">
            <a:avLst/>
          </a:prstGeom>
        </p:spPr>
      </p:pic>
      <p:pic>
        <p:nvPicPr>
          <p:cNvPr id="11" name="Picture 10" descr="The image is a webpage with a form for submitting a Prior Learning Assessment (PLAR) application for a course.&#10;&#10;AI-generated content may be incorrect.">
            <a:extLst>
              <a:ext uri="{FF2B5EF4-FFF2-40B4-BE49-F238E27FC236}">
                <a16:creationId xmlns:a16="http://schemas.microsoft.com/office/drawing/2014/main" id="{00DFED42-FEB3-8BAB-6FDB-F968D5D4D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314" y="3357871"/>
            <a:ext cx="4759320" cy="27190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B887F7-46AE-97A7-669A-BF3516449968}"/>
              </a:ext>
            </a:extLst>
          </p:cNvPr>
          <p:cNvSpPr txBox="1"/>
          <p:nvPr/>
        </p:nvSpPr>
        <p:spPr>
          <a:xfrm>
            <a:off x="6258116" y="6320416"/>
            <a:ext cx="6115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This creates confusion and reduces usability.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295594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3B7EDE-E8EC-0CD5-F85E-7E63977388AA}"/>
              </a:ext>
            </a:extLst>
          </p:cNvPr>
          <p:cNvSpPr txBox="1"/>
          <p:nvPr/>
        </p:nvSpPr>
        <p:spPr>
          <a:xfrm>
            <a:off x="1366997" y="227336"/>
            <a:ext cx="37757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/>
              <a:t>Accessibility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A776D3-C7F5-C771-F447-F9ACA8703D1C}"/>
              </a:ext>
            </a:extLst>
          </p:cNvPr>
          <p:cNvSpPr txBox="1"/>
          <p:nvPr/>
        </p:nvSpPr>
        <p:spPr>
          <a:xfrm>
            <a:off x="6828304" y="227336"/>
            <a:ext cx="52308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• The original website uses clear text and simple language</a:t>
            </a:r>
            <a:br>
              <a:rPr lang="en-US" sz="2400" dirty="0"/>
            </a:br>
            <a:r>
              <a:rPr lang="en-US" sz="2400" dirty="0"/>
              <a:t>• Buttons and links are visible, but not always optimized for usability</a:t>
            </a:r>
            <a:br>
              <a:rPr lang="en-US" sz="2400" dirty="0"/>
            </a:br>
            <a:r>
              <a:rPr lang="en-US" sz="2400" dirty="0"/>
              <a:t>• Some accessibility features are missing or not fully implemented</a:t>
            </a:r>
            <a:br>
              <a:rPr lang="en-US" sz="2400" dirty="0"/>
            </a:br>
            <a:r>
              <a:rPr lang="en-US" sz="2400" dirty="0"/>
              <a:t>• This may make the website difficult for users with disabilities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Improvement: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• Better contrast improves readability for all users</a:t>
            </a:r>
            <a:br>
              <a:rPr lang="en-US" sz="2400" dirty="0"/>
            </a:br>
            <a:r>
              <a:rPr lang="en-US" sz="2400" dirty="0"/>
              <a:t>• Semantic HTML improves screen reader support</a:t>
            </a:r>
            <a:br>
              <a:rPr lang="en-US" sz="2400" dirty="0"/>
            </a:br>
            <a:r>
              <a:rPr lang="en-US" sz="2400" dirty="0"/>
              <a:t>• Keyboard accessibility allows navigation without a mouse</a:t>
            </a:r>
          </a:p>
        </p:txBody>
      </p:sp>
      <p:pic>
        <p:nvPicPr>
          <p:cNvPr id="11" name="Picture 10" descr="The image is a screenshot of a course registration or program enrollment form on the Articulate platform, showcasing sections for submission samples, program information, work experience, portfolio, timeline, alternate pathways, recognition of prior learning, and enrollment details.&#10;&#10;AI-generated content may be incorrect.">
            <a:extLst>
              <a:ext uri="{FF2B5EF4-FFF2-40B4-BE49-F238E27FC236}">
                <a16:creationId xmlns:a16="http://schemas.microsoft.com/office/drawing/2014/main" id="{F9EABAEF-FDB2-1A22-AE2B-98AF9BDE0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97" y="1368473"/>
            <a:ext cx="6408540" cy="3676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ED55D5-0C32-DC0C-85DD-F653D67B9CD6}"/>
              </a:ext>
            </a:extLst>
          </p:cNvPr>
          <p:cNvSpPr txBox="1"/>
          <p:nvPr/>
        </p:nvSpPr>
        <p:spPr>
          <a:xfrm>
            <a:off x="288656" y="5416502"/>
            <a:ext cx="60970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This redesign makes the website more accessible and inclusive.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396996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2DF5BC-09DC-D321-D219-E8A26C3AAFD3}"/>
              </a:ext>
            </a:extLst>
          </p:cNvPr>
          <p:cNvSpPr txBox="1"/>
          <p:nvPr/>
        </p:nvSpPr>
        <p:spPr>
          <a:xfrm>
            <a:off x="3042376" y="263328"/>
            <a:ext cx="52792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/>
              <a:t>Problems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209760-6AE3-2F22-10B6-AE6F6FB62359}"/>
              </a:ext>
            </a:extLst>
          </p:cNvPr>
          <p:cNvSpPr txBox="1"/>
          <p:nvPr/>
        </p:nvSpPr>
        <p:spPr>
          <a:xfrm>
            <a:off x="1758743" y="1228323"/>
            <a:ext cx="867451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• Navigation is simple but not very intuitive for new users  </a:t>
            </a:r>
          </a:p>
          <a:p>
            <a:r>
              <a:rPr lang="en-CA" sz="2400" dirty="0"/>
              <a:t>• Users need to scroll a lot to find information  </a:t>
            </a:r>
          </a:p>
          <a:p>
            <a:endParaRPr lang="en-CA" sz="2400" dirty="0"/>
          </a:p>
          <a:p>
            <a:r>
              <a:rPr lang="en-CA" sz="2400" dirty="0"/>
              <a:t>• Content is sometimes hidden behind expandable sections  </a:t>
            </a:r>
          </a:p>
          <a:p>
            <a:r>
              <a:rPr lang="en-CA" sz="2400" dirty="0"/>
              <a:t>• This increases interaction effort and slows down learning  </a:t>
            </a:r>
          </a:p>
          <a:p>
            <a:endParaRPr lang="en-CA" sz="2400" dirty="0"/>
          </a:p>
          <a:p>
            <a:r>
              <a:rPr lang="en-CA" sz="2400" dirty="0"/>
              <a:t>• The visual design is clean but lacks engagement and variety  </a:t>
            </a:r>
          </a:p>
          <a:p>
            <a:endParaRPr lang="en-CA" sz="2400" dirty="0"/>
          </a:p>
          <a:p>
            <a:r>
              <a:rPr lang="en-CA" sz="2400" dirty="0"/>
              <a:t>• Interactive features are inconsistent across lessons  </a:t>
            </a:r>
          </a:p>
          <a:p>
            <a:r>
              <a:rPr lang="en-CA" sz="2400" dirty="0"/>
              <a:t>• Some functions are not clearly explained  </a:t>
            </a:r>
          </a:p>
          <a:p>
            <a:endParaRPr lang="en-CA" sz="2400" dirty="0"/>
          </a:p>
          <a:p>
            <a:r>
              <a:rPr lang="en-CA" sz="2400" dirty="0"/>
              <a:t>• Accessibility is limited and not fully implemented  </a:t>
            </a:r>
          </a:p>
          <a:p>
            <a:endParaRPr lang="en-CA" sz="2400" dirty="0"/>
          </a:p>
          <a:p>
            <a:r>
              <a:rPr lang="en-CA" sz="2400" dirty="0"/>
              <a:t>Overall, these issues reduce usability and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3219147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37B229-2D84-39AF-68B4-34704BDEA5B1}"/>
              </a:ext>
            </a:extLst>
          </p:cNvPr>
          <p:cNvSpPr txBox="1"/>
          <p:nvPr/>
        </p:nvSpPr>
        <p:spPr>
          <a:xfrm>
            <a:off x="3751955" y="367656"/>
            <a:ext cx="41500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/>
              <a:t>Redesign Goals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B8F5E0-AFF3-CCA7-5705-EA99815C389D}"/>
              </a:ext>
            </a:extLst>
          </p:cNvPr>
          <p:cNvSpPr txBox="1"/>
          <p:nvPr/>
        </p:nvSpPr>
        <p:spPr>
          <a:xfrm>
            <a:off x="1750126" y="1321065"/>
            <a:ext cx="869174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• Improve navigation to make it more intuitive for new users  </a:t>
            </a:r>
          </a:p>
          <a:p>
            <a:r>
              <a:rPr lang="en-CA" sz="2400" dirty="0"/>
              <a:t>• Reduce excessive scrolling and improve content structure  </a:t>
            </a:r>
          </a:p>
          <a:p>
            <a:endParaRPr lang="en-CA" sz="2400" dirty="0"/>
          </a:p>
          <a:p>
            <a:r>
              <a:rPr lang="en-CA" sz="2400" dirty="0"/>
              <a:t>• Make important information more visible without extra clicks  </a:t>
            </a:r>
          </a:p>
          <a:p>
            <a:r>
              <a:rPr lang="en-CA" sz="2400" dirty="0"/>
              <a:t>• Improve consistency of interactive features across lessons  </a:t>
            </a:r>
          </a:p>
          <a:p>
            <a:endParaRPr lang="en-CA" sz="2400" dirty="0"/>
          </a:p>
          <a:p>
            <a:r>
              <a:rPr lang="en-CA" sz="2400" dirty="0"/>
              <a:t>• Enhance visual design to make the website more engaging  </a:t>
            </a:r>
          </a:p>
          <a:p>
            <a:r>
              <a:rPr lang="en-CA" sz="2400" dirty="0"/>
              <a:t>• Create a clearer visual hierarchy to guide user attention  </a:t>
            </a:r>
          </a:p>
          <a:p>
            <a:endParaRPr lang="en-CA" sz="2400" dirty="0"/>
          </a:p>
          <a:p>
            <a:r>
              <a:rPr lang="en-CA" sz="2400" dirty="0"/>
              <a:t>• Improve accessibility by using better contrast and clearer descriptions  </a:t>
            </a:r>
          </a:p>
          <a:p>
            <a:endParaRPr lang="en-CA" sz="2400" dirty="0"/>
          </a:p>
          <a:p>
            <a:r>
              <a:rPr lang="en-CA" sz="2400" dirty="0"/>
              <a:t>These changes aim to create a more efficient and user-friendly experience.</a:t>
            </a:r>
          </a:p>
        </p:txBody>
      </p:sp>
    </p:spTree>
    <p:extLst>
      <p:ext uri="{BB962C8B-B14F-4D97-AF65-F5344CB8AC3E}">
        <p14:creationId xmlns:p14="http://schemas.microsoft.com/office/powerpoint/2010/main" val="251652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AC1F5E-58DF-0E97-AC1E-96DF7B8FD8F1}"/>
              </a:ext>
            </a:extLst>
          </p:cNvPr>
          <p:cNvSpPr txBox="1"/>
          <p:nvPr/>
        </p:nvSpPr>
        <p:spPr>
          <a:xfrm>
            <a:off x="182573" y="330835"/>
            <a:ext cx="65250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/>
              <a:t>Navigation Improvement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61E86D-35ED-0F66-935B-1383C9C071FE}"/>
              </a:ext>
            </a:extLst>
          </p:cNvPr>
          <p:cNvSpPr txBox="1"/>
          <p:nvPr/>
        </p:nvSpPr>
        <p:spPr>
          <a:xfrm>
            <a:off x="226998" y="1493038"/>
            <a:ext cx="492800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• Make the sidebar clearer and easier to understand  </a:t>
            </a:r>
          </a:p>
          <a:p>
            <a:r>
              <a:rPr lang="en-CA" sz="2400" dirty="0"/>
              <a:t>• Highlight the current lesson  </a:t>
            </a:r>
          </a:p>
          <a:p>
            <a:endParaRPr lang="en-CA" sz="2400" dirty="0"/>
          </a:p>
          <a:p>
            <a:r>
              <a:rPr lang="en-CA" sz="2400" dirty="0"/>
              <a:t>• Add a top navigation bar  </a:t>
            </a:r>
          </a:p>
          <a:p>
            <a:r>
              <a:rPr lang="en-CA" sz="2400" dirty="0"/>
              <a:t>• Add a “Back to Top” button  </a:t>
            </a:r>
          </a:p>
          <a:p>
            <a:endParaRPr lang="en-CA" sz="2400" dirty="0"/>
          </a:p>
          <a:p>
            <a:r>
              <a:rPr lang="en-CA" sz="2400" dirty="0"/>
              <a:t>• Help new users understand how to navigate  </a:t>
            </a:r>
          </a:p>
          <a:p>
            <a:endParaRPr lang="en-CA" sz="2400" dirty="0"/>
          </a:p>
          <a:p>
            <a:r>
              <a:rPr lang="en-CA" sz="2400" dirty="0"/>
              <a:t>These changes improve usability and user experience.</a:t>
            </a:r>
          </a:p>
        </p:txBody>
      </p:sp>
      <p:pic>
        <p:nvPicPr>
          <p:cNvPr id="7" name="Picture 6" descr="The eCampus IT Programming Diploma boasts a 100% completion certificate, offering work experience, portfolio development, alternate pathways, and recognition of prior learning.&#10;&#10;AI-generated content may be incorrect.">
            <a:extLst>
              <a:ext uri="{FF2B5EF4-FFF2-40B4-BE49-F238E27FC236}">
                <a16:creationId xmlns:a16="http://schemas.microsoft.com/office/drawing/2014/main" id="{27DADEBC-034F-291E-82EF-170ABDC21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613" y="90936"/>
            <a:ext cx="2686188" cy="59883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424FA8-0F79-9B1F-FCB0-916B937D2225}"/>
              </a:ext>
            </a:extLst>
          </p:cNvPr>
          <p:cNvSpPr txBox="1"/>
          <p:nvPr/>
        </p:nvSpPr>
        <p:spPr>
          <a:xfrm>
            <a:off x="7080464" y="6397732"/>
            <a:ext cx="2032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Add "Back to Top"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6A1AE0-6874-C7B3-7167-085488C3B37B}"/>
              </a:ext>
            </a:extLst>
          </p:cNvPr>
          <p:cNvSpPr/>
          <p:nvPr/>
        </p:nvSpPr>
        <p:spPr>
          <a:xfrm>
            <a:off x="9765608" y="2434820"/>
            <a:ext cx="2199394" cy="9941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Highlight current lesson</a:t>
            </a:r>
          </a:p>
          <a:p>
            <a:pPr algn="ctr"/>
            <a:r>
              <a:rPr lang="en-CA" dirty="0"/>
              <a:t>Add top navigation</a:t>
            </a:r>
          </a:p>
        </p:txBody>
      </p:sp>
    </p:spTree>
    <p:extLst>
      <p:ext uri="{BB962C8B-B14F-4D97-AF65-F5344CB8AC3E}">
        <p14:creationId xmlns:p14="http://schemas.microsoft.com/office/powerpoint/2010/main" val="2258847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B78CFA-B700-E7E5-2C6B-6BE081D88C2E}"/>
              </a:ext>
            </a:extLst>
          </p:cNvPr>
          <p:cNvSpPr txBox="1"/>
          <p:nvPr/>
        </p:nvSpPr>
        <p:spPr>
          <a:xfrm>
            <a:off x="348270" y="190928"/>
            <a:ext cx="86361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/>
              <a:t>Content / Scrolling Improvement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E723E-E29D-D91B-5F61-B4387AB3E1D0}"/>
              </a:ext>
            </a:extLst>
          </p:cNvPr>
          <p:cNvSpPr txBox="1"/>
          <p:nvPr/>
        </p:nvSpPr>
        <p:spPr>
          <a:xfrm>
            <a:off x="570772" y="1097246"/>
            <a:ext cx="496015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• Show important information without extra clicks  </a:t>
            </a:r>
          </a:p>
          <a:p>
            <a:r>
              <a:rPr lang="en-CA" sz="2400" dirty="0"/>
              <a:t>• Reduce the use of expandable sections  </a:t>
            </a:r>
          </a:p>
          <a:p>
            <a:endParaRPr lang="en-CA" sz="2400" dirty="0"/>
          </a:p>
          <a:p>
            <a:r>
              <a:rPr lang="en-CA" sz="2400" dirty="0"/>
              <a:t>• Break content into smaller sections  </a:t>
            </a:r>
          </a:p>
          <a:p>
            <a:r>
              <a:rPr lang="en-CA" sz="2400" dirty="0"/>
              <a:t>• Add clear headings to organize information  </a:t>
            </a:r>
          </a:p>
          <a:p>
            <a:endParaRPr lang="en-CA" sz="2400" dirty="0"/>
          </a:p>
          <a:p>
            <a:r>
              <a:rPr lang="en-CA" sz="2400" dirty="0"/>
              <a:t>• Reduce long scrolling pages  </a:t>
            </a:r>
          </a:p>
          <a:p>
            <a:endParaRPr lang="en-CA" sz="2400" dirty="0"/>
          </a:p>
          <a:p>
            <a:r>
              <a:rPr lang="en-CA" sz="2400" dirty="0"/>
              <a:t>These changes make content easier to read and faster to access.</a:t>
            </a:r>
          </a:p>
        </p:txBody>
      </p:sp>
      <p:pic>
        <p:nvPicPr>
          <p:cNvPr id="7" name="Picture 6" descr="The image shows an NSCC employee's office, featuring a computer and documents related to student enrollment and program information.&#10;&#10;AI-generated content may be incorrect.">
            <a:extLst>
              <a:ext uri="{FF2B5EF4-FFF2-40B4-BE49-F238E27FC236}">
                <a16:creationId xmlns:a16="http://schemas.microsoft.com/office/drawing/2014/main" id="{1C92FACE-6E43-C43E-B472-345438C6F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360" y="3904611"/>
            <a:ext cx="4960159" cy="2808625"/>
          </a:xfrm>
          <a:prstGeom prst="rect">
            <a:avLst/>
          </a:prstGeom>
        </p:spPr>
      </p:pic>
      <p:pic>
        <p:nvPicPr>
          <p:cNvPr id="10" name="Picture 9" descr="The image is a web page interface with a form for a student to input their prior learning experience for transfer credits or recognition, with a submission deadline notice.&#10;&#10;AI-generated content may be incorrect.">
            <a:extLst>
              <a:ext uri="{FF2B5EF4-FFF2-40B4-BE49-F238E27FC236}">
                <a16:creationId xmlns:a16="http://schemas.microsoft.com/office/drawing/2014/main" id="{6095B265-035C-08DC-F4A3-4E47A535B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359" y="893667"/>
            <a:ext cx="4960159" cy="283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8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BCDFAB-9923-DFDB-432B-04856DA97C93}"/>
              </a:ext>
            </a:extLst>
          </p:cNvPr>
          <p:cNvSpPr txBox="1"/>
          <p:nvPr/>
        </p:nvSpPr>
        <p:spPr>
          <a:xfrm>
            <a:off x="458735" y="429320"/>
            <a:ext cx="7249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/>
              <a:t>Visual Design Improvement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D2A0B-6D7D-90BC-CFB9-7FD0C37F180B}"/>
              </a:ext>
            </a:extLst>
          </p:cNvPr>
          <p:cNvSpPr txBox="1"/>
          <p:nvPr/>
        </p:nvSpPr>
        <p:spPr>
          <a:xfrm>
            <a:off x="275855" y="1307571"/>
            <a:ext cx="541629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• The design is repetitive, so add more colors and visual elements  </a:t>
            </a:r>
          </a:p>
          <a:p>
            <a:r>
              <a:rPr lang="en-US" sz="2400" dirty="0"/>
              <a:t>• Too many similar items make scanning difficult, so use spacing and grouping  </a:t>
            </a:r>
          </a:p>
          <a:p>
            <a:endParaRPr lang="en-US" sz="2400" dirty="0"/>
          </a:p>
          <a:p>
            <a:r>
              <a:rPr lang="en-US" sz="2400" dirty="0"/>
              <a:t>• Important content is not highlighted, so use color or icons  </a:t>
            </a:r>
          </a:p>
          <a:p>
            <a:r>
              <a:rPr lang="en-US" sz="2400" dirty="0"/>
              <a:t>• There is no strong visual hierarchy, so use titles and section contrast  </a:t>
            </a:r>
          </a:p>
          <a:p>
            <a:endParaRPr lang="en-US" sz="2400" dirty="0"/>
          </a:p>
          <a:p>
            <a:r>
              <a:rPr lang="en-US" sz="2400" dirty="0"/>
              <a:t>These changes make the website more engaging and easier to scan.</a:t>
            </a:r>
            <a:endParaRPr lang="en-CA" sz="2400" dirty="0"/>
          </a:p>
        </p:txBody>
      </p:sp>
      <p:pic>
        <p:nvPicPr>
          <p:cNvPr id="7" name="Picture 6" descr="The image displays a web page interface, likely a course catalog or educational program listing, featuring various programming and IT subjects such as Introduction to Windows, Networking and Security, Web Development, and Object-Oriented Programming.&#10;&#10;AI-generated content may be incorrect.">
            <a:extLst>
              <a:ext uri="{FF2B5EF4-FFF2-40B4-BE49-F238E27FC236}">
                <a16:creationId xmlns:a16="http://schemas.microsoft.com/office/drawing/2014/main" id="{E71E23D2-72C6-C03A-2563-1896B4D2C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800" y="1821484"/>
            <a:ext cx="6178103" cy="353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833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D417BA-E670-021C-269A-C623A35199A4}"/>
              </a:ext>
            </a:extLst>
          </p:cNvPr>
          <p:cNvSpPr txBox="1"/>
          <p:nvPr/>
        </p:nvSpPr>
        <p:spPr>
          <a:xfrm>
            <a:off x="184107" y="1123596"/>
            <a:ext cx="719859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project includes 3 small redesign demos:</a:t>
            </a:r>
          </a:p>
          <a:p>
            <a:endParaRPr lang="en-US" dirty="0"/>
          </a:p>
          <a:p>
            <a:r>
              <a:rPr lang="en-US" dirty="0"/>
              <a:t>1. Sidebar Navigation</a:t>
            </a:r>
          </a:p>
          <a:p>
            <a:r>
              <a:rPr lang="en-US" dirty="0"/>
              <a:t>- Clear menu structure</a:t>
            </a:r>
          </a:p>
          <a:p>
            <a:r>
              <a:rPr lang="en-US" dirty="0"/>
              <a:t>- Highlighting of active sections</a:t>
            </a:r>
          </a:p>
          <a:p>
            <a:r>
              <a:rPr lang="en-US" dirty="0"/>
              <a:t>- Easier navigation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2. Content Organization</a:t>
            </a:r>
          </a:p>
          <a:p>
            <a:r>
              <a:rPr lang="en-US" dirty="0"/>
              <a:t>- Direct display of important information</a:t>
            </a:r>
          </a:p>
          <a:p>
            <a:r>
              <a:rPr lang="en-US" dirty="0"/>
              <a:t>- Card-style layout for easier reading</a:t>
            </a:r>
          </a:p>
          <a:p>
            <a:r>
              <a:rPr lang="en-US" dirty="0"/>
              <a:t>- Reduced clicks</a:t>
            </a:r>
          </a:p>
          <a:p>
            <a:endParaRPr lang="en-US" dirty="0"/>
          </a:p>
          <a:p>
            <a:r>
              <a:rPr lang="en-US" dirty="0"/>
              <a:t>3. Accessibility Improvements</a:t>
            </a:r>
          </a:p>
          <a:p>
            <a:r>
              <a:rPr lang="en-US" dirty="0"/>
              <a:t>- Improved color contrast</a:t>
            </a:r>
          </a:p>
          <a:p>
            <a:r>
              <a:rPr lang="en-US" dirty="0"/>
              <a:t>- Clearer titles and buttons</a:t>
            </a:r>
          </a:p>
          <a:p>
            <a:r>
              <a:rPr lang="en-US" dirty="0"/>
              <a:t>- Easier to read and use</a:t>
            </a:r>
          </a:p>
          <a:p>
            <a:endParaRPr lang="en-US" dirty="0"/>
          </a:p>
          <a:p>
            <a:r>
              <a:rPr lang="en-US" dirty="0"/>
              <a:t>All code is commented and explained in detail in the README.md file.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E09C0-EFD0-446D-03BB-2300ECAC69DE}"/>
              </a:ext>
            </a:extLst>
          </p:cNvPr>
          <p:cNvSpPr txBox="1"/>
          <p:nvPr/>
        </p:nvSpPr>
        <p:spPr>
          <a:xfrm>
            <a:off x="73642" y="220370"/>
            <a:ext cx="123229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/>
              <a:t>Redesign Demonstration (Code Improvements)</a:t>
            </a:r>
          </a:p>
        </p:txBody>
      </p:sp>
    </p:spTree>
    <p:extLst>
      <p:ext uri="{BB962C8B-B14F-4D97-AF65-F5344CB8AC3E}">
        <p14:creationId xmlns:p14="http://schemas.microsoft.com/office/powerpoint/2010/main" val="35370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77AA67-13E5-1470-BFA3-0E6D95721330}"/>
              </a:ext>
            </a:extLst>
          </p:cNvPr>
          <p:cNvSpPr txBox="1"/>
          <p:nvPr/>
        </p:nvSpPr>
        <p:spPr>
          <a:xfrm>
            <a:off x="2796899" y="343107"/>
            <a:ext cx="60970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/>
              <a:t>Final Proposed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F5FD57-69BA-6D12-75A3-AA1292091781}"/>
              </a:ext>
            </a:extLst>
          </p:cNvPr>
          <p:cNvSpPr txBox="1"/>
          <p:nvPr/>
        </p:nvSpPr>
        <p:spPr>
          <a:xfrm>
            <a:off x="2042186" y="1157779"/>
            <a:ext cx="77516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• The new design optimizes navigation, making it easier for users to switch between different sections.</a:t>
            </a:r>
          </a:p>
          <a:p>
            <a:r>
              <a:rPr lang="en-US" sz="2400" dirty="0"/>
              <a:t>• A clearer structure and layout make important information easier to find.</a:t>
            </a:r>
          </a:p>
          <a:p>
            <a:r>
              <a:rPr lang="en-US" sz="2400" dirty="0"/>
              <a:t>• Content is more organized, reducing scrolling.</a:t>
            </a:r>
          </a:p>
          <a:p>
            <a:r>
              <a:rPr lang="en-US" sz="2400" dirty="0"/>
              <a:t>• Visual design has been improved, with optimized hierarchy, spacing, and emphasis.</a:t>
            </a:r>
          </a:p>
          <a:p>
            <a:r>
              <a:rPr lang="en-US" sz="2400" dirty="0"/>
              <a:t>• Interactions across all pages are more consistent.</a:t>
            </a:r>
          </a:p>
          <a:p>
            <a:r>
              <a:rPr lang="en-US" sz="2400" dirty="0"/>
              <a:t>• Higher contrast and clearer elements enhance website usability.</a:t>
            </a:r>
          </a:p>
          <a:p>
            <a:r>
              <a:rPr lang="en-US" sz="2400" dirty="0"/>
              <a:t>• The redesigned website better adapts to different screen sizes (responsive design).</a:t>
            </a:r>
          </a:p>
          <a:p>
            <a:endParaRPr lang="en-US" sz="2400" dirty="0"/>
          </a:p>
          <a:p>
            <a:r>
              <a:rPr lang="en-US" sz="2400" dirty="0"/>
              <a:t>The redesigned website will provide a more efficient, convenient, and user-friendly experience.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284139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2314</TotalTime>
  <Words>1161</Words>
  <Application>Microsoft Office PowerPoint</Application>
  <PresentationFormat>Widescreen</PresentationFormat>
  <Paragraphs>154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Website Evaluation &amp; Redesign Proposal </vt:lpstr>
      <vt:lpstr>Introduction</vt:lpstr>
      <vt:lpstr>Website Overview</vt:lpstr>
      <vt:lpstr>Overall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Xieaoyi Xie</dc:creator>
  <cp:lastModifiedBy>Xieaoyi Xie</cp:lastModifiedBy>
  <cp:revision>2</cp:revision>
  <dcterms:created xsi:type="dcterms:W3CDTF">2026-03-27T17:05:42Z</dcterms:created>
  <dcterms:modified xsi:type="dcterms:W3CDTF">2026-04-07T14:16:31Z</dcterms:modified>
</cp:coreProperties>
</file>